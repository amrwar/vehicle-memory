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6596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D9B36C"/>
                </a:solidFill>
                <a:latin typeface="Segoe UI"/>
              </a:rPr>
              <a:t>CARNET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423160"/>
            <a:ext cx="91440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5200" b="1">
                <a:solidFill>
                  <a:srgbClr val="FFFFFF"/>
                </a:solidFill>
                <a:latin typeface="Georgia"/>
              </a:rPr>
              <a:t>The history belongs</a:t>
            </a:r>
          </a:p>
          <a:p>
            <a:pPr algn="l">
              <a:lnSpc>
                <a:spcPct val="105000"/>
              </a:lnSpc>
            </a:pPr>
            <a:r>
              <a:rPr sz="5200" b="1">
                <a:solidFill>
                  <a:srgbClr val="FFFFFF"/>
                </a:solidFill>
                <a:latin typeface="Georgia"/>
              </a:rPr>
              <a:t>to the car.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34340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Workshop management and ERP, built around a vehicle record that survives</a:t>
            </a:r>
          </a:p>
          <a:p>
            <a:pPr algn="l">
              <a:lnSpc>
                <a:spcPct val="135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the sale, the workshop and the owner.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85216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8A9496"/>
                </a:solidFill>
                <a:latin typeface="Segoe UI"/>
              </a:rPr>
              <a:t>Amr Hefny   ·   hefnyamr@rocketmail.com   ·   +1 514 553 4360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A car outlives every record kept about it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45973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7552" y="237744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The workshop owns the history.</a:t>
            </a:r>
            <a:r>
              <a:rPr sz="1600">
                <a:solidFill>
                  <a:srgbClr val="535E60"/>
                </a:solidFill>
                <a:latin typeface="Segoe UI"/>
              </a:rPr>
              <a:t>  Change garage and it starts again from nothing.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328269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320040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The owner sells the car.</a:t>
            </a:r>
            <a:r>
              <a:rPr sz="1600">
                <a:solidFill>
                  <a:srgbClr val="535E60"/>
                </a:solidFill>
                <a:latin typeface="Segoe UI"/>
              </a:rPr>
              <a:t>  Everything known about it stays behind, with a business that no longer has any reason to care.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410565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87552" y="402336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The buyer has no way to check.</a:t>
            </a:r>
            <a:r>
              <a:rPr sz="1600">
                <a:solidFill>
                  <a:srgbClr val="535E60"/>
                </a:solidFill>
                <a:latin typeface="Segoe UI"/>
              </a:rPr>
              <a:t>  Mileage, work done, parts fitted: all of it is a claim on a sheet of paper.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92861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87552" y="484632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Clocking survives because nobody holds the whole sequence.</a:t>
            </a:r>
            <a:r>
              <a:rPr sz="1600">
                <a:solidFill>
                  <a:srgbClr val="535E60"/>
                </a:solidFill>
                <a:latin typeface="Segoe UI"/>
              </a:rPr>
              <a:t>  Each garage sees only its own readings, and its own readings always agree with each other.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IDEA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FFFFFF"/>
                </a:solidFill>
                <a:latin typeface="Georgia"/>
              </a:rPr>
              <a:t>Key the record to the vehicle, not the workshop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28600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Every event is written to a tamper-evident chain against the VIN. The workshop that</a:t>
            </a:r>
          </a:p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wrote it cannot alter it afterwards, and neither can we. When the car is sold, the record</a:t>
            </a:r>
          </a:p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goes with it.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Job completed</a:t>
            </a:r>
          </a:p>
        </p:txBody>
      </p:sp>
      <p:sp>
        <p:nvSpPr>
          <p:cNvPr id="9" name="Rectangle 8"/>
          <p:cNvSpPr/>
          <p:nvPr/>
        </p:nvSpPr>
        <p:spPr>
          <a:xfrm>
            <a:off x="2604973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696413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Event hashed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6986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78426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Chained to the last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68999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60439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Owner changes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51012" y="3931920"/>
            <a:ext cx="1635709" cy="65836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2452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Segoe UI"/>
              </a:rPr>
              <a:t>History transfers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733025" y="3931920"/>
            <a:ext cx="1635709" cy="65836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824465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Segoe UI"/>
              </a:rPr>
              <a:t>Buyer reads 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502920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D9B36C"/>
                </a:solidFill>
                <a:latin typeface="Segoe UI"/>
              </a:rPr>
              <a:t>This is the part a competitor cannot copy by adding a feature. It is a different answer to the question of who the record is for.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SHAPE OF THE PRODUCT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Three connected experiences, one set of records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31720"/>
            <a:ext cx="338328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331720"/>
            <a:ext cx="3383280" cy="508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60604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61A1B"/>
                </a:solidFill>
                <a:latin typeface="Georgia"/>
              </a:rPr>
              <a:t>The workshop</a:t>
            </a:r>
          </a:p>
        </p:txBody>
      </p:sp>
      <p:sp>
        <p:nvSpPr>
          <p:cNvPr id="9" name="Rectangle 8"/>
          <p:cNvSpPr/>
          <p:nvPr/>
        </p:nvSpPr>
        <p:spPr>
          <a:xfrm>
            <a:off x="1097280" y="3209544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98448" y="312724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Technician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97280" y="3520440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98448" y="3438144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Job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97280" y="3831336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98448" y="374904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Inspection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97280" y="4142232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98448" y="4059936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Parts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97280" y="4453128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98448" y="4370832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Repair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4828032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One tablet surface for the floor, with the clock running against the job.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90288" y="2331720"/>
            <a:ext cx="338328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90288" y="2331720"/>
            <a:ext cx="3383280" cy="508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64608" y="260604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61A1B"/>
                </a:solidFill>
                <a:latin typeface="Georgia"/>
              </a:rPr>
              <a:t>The business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864608" y="3209544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65776" y="312724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Jobs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864608" y="3520440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65776" y="3438144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Inventory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864608" y="3831336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65776" y="374904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Purchasing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864608" y="4142232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65776" y="4059936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Accounting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864608" y="4453128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65776" y="4370832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Profitability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864608" y="4828032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A double-entry ledger that posts from the work itself, not a monthly export.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357616" y="2331720"/>
            <a:ext cx="338328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357616" y="2331720"/>
            <a:ext cx="3383280" cy="508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31936" y="260604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61A1B"/>
                </a:solidFill>
                <a:latin typeface="Georgia"/>
              </a:rPr>
              <a:t>The customer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631936" y="3209544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833104" y="312724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Booking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631936" y="3520440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833104" y="3438144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Inspection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631936" y="3831336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833104" y="374904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Approval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631936" y="4142232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833104" y="4059936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Tracking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631936" y="4453128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833104" y="4370832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Payment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631936" y="4828032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No account needed to answer a quote. Most people meet Carnet on a link.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WHERE IT STANDS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Built, and checked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92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Pages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Every one rendered in CI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977835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977835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06435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121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6435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Tables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6435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One schema, one ledger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32710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132710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61310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1,230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61310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Tests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61310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Domain logic, no mocks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287585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287585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16185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30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16185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Database probes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16185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Invariants proved, not assumed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442460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442460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71060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415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71060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Requirements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71060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Traced to code and a test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2960" y="419709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87552" y="4114800"/>
            <a:ext cx="10381183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Every phase ships green.</a:t>
            </a:r>
            <a:r>
              <a:rPr sz="1400">
                <a:solidFill>
                  <a:srgbClr val="535E60"/>
                </a:solidFill>
                <a:latin typeface="Segoe UI"/>
              </a:rPr>
              <a:t>  Format, lint, types, tests, database invariants, then a production build with every route rendered for every role.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22960" y="4910328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87552" y="4828032"/>
            <a:ext cx="10381183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The rules live in the database.</a:t>
            </a:r>
            <a:r>
              <a:rPr sz="1400">
                <a:solidFill>
                  <a:srgbClr val="535E60"/>
                </a:solidFill>
                <a:latin typeface="Segoe UI"/>
              </a:rPr>
              <a:t>  A ledger entry that does not balance, a rule acting twice inside its cooldown, an edited consent record: all refused by Postgres, not only by code.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22960" y="5623560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87552" y="5541264"/>
            <a:ext cx="10381183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Empty states and accessibility are checked by script.</a:t>
            </a:r>
            <a:r>
              <a:rPr sz="1400">
                <a:solidFill>
                  <a:srgbClr val="535E60"/>
                </a:solidFill>
                <a:latin typeface="Segoe UI"/>
              </a:rPr>
              <a:t>  A workshop on its first morning sees a product that tells it what to do next.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COVERAGE, HONESTLY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What is built and what is not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468880"/>
            <a:ext cx="9678998" cy="54864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615184"/>
            <a:ext cx="940467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Built 134</a:t>
            </a:r>
          </a:p>
        </p:txBody>
      </p:sp>
      <p:sp>
        <p:nvSpPr>
          <p:cNvPr id="8" name="Rectangle 7"/>
          <p:cNvSpPr/>
          <p:nvPr/>
        </p:nvSpPr>
        <p:spPr>
          <a:xfrm>
            <a:off x="10501958" y="2468880"/>
            <a:ext cx="72231" cy="54864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574189" y="2468880"/>
            <a:ext cx="794544" cy="548640"/>
          </a:xfrm>
          <a:prstGeom prst="rect">
            <a:avLst/>
          </a:prstGeom>
          <a:solidFill>
            <a:srgbClr val="C9C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246120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Counted line by line from the feature map, which is written against the code. A capability counts as built only when somebody can open a page and do it.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4059935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3977639"/>
            <a:ext cx="10381183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Complete.</a:t>
            </a:r>
            <a:r>
              <a:rPr sz="1400">
                <a:solidFill>
                  <a:srgbClr val="535E60"/>
                </a:solidFill>
                <a:latin typeface="Segoe UI"/>
              </a:rPr>
              <a:t>  Jobs, diary, customers, vehicles, the passport, estimates, invoices, payments, inventory, purchasing, the ledger, people, multi-site, counter sales, automation, CRM, the customer portal.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4837175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7552" y="4754879"/>
            <a:ext cx="10381183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Partial, and named.</a:t>
            </a:r>
            <a:r>
              <a:rPr sz="1400">
                <a:solidFill>
                  <a:srgbClr val="535E60"/>
                </a:solidFill>
                <a:latin typeface="Segoe UI"/>
              </a:rPr>
              <a:t>  Inspections have six tables and no interface. The calendar has one view of six. Communication goes out but nothing comes back.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5614415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7552" y="5532119"/>
            <a:ext cx="10381183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Absent, and scheduled.</a:t>
            </a:r>
            <a:r>
              <a:rPr sz="1400">
                <a:solidFill>
                  <a:srgbClr val="535E60"/>
                </a:solidFill>
                <a:latin typeface="Segoe UI"/>
              </a:rPr>
              <a:t>  Warranty, fleet, reviews, loyalty, the bay board, the command centre. Phases 7 to 12.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DIFFERENCE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FFFFFF"/>
                </a:solidFill>
                <a:latin typeface="Georgia"/>
              </a:rPr>
              <a:t>Caught by the record, not by a feature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77440"/>
            <a:ext cx="10545775" cy="196596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377440"/>
            <a:ext cx="50800" cy="1965960"/>
          </a:xfrm>
          <a:prstGeom prst="rect">
            <a:avLst/>
          </a:prstGeom>
          <a:solidFill>
            <a:srgbClr val="A8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60604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D9B36C"/>
                </a:solidFill>
                <a:latin typeface="Segoe UI"/>
              </a:rPr>
              <a:t>The demonstration vehicle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29260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Georgia"/>
              </a:rPr>
              <a:t>67,410 miles, then 62,000, then 74,800.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520440"/>
            <a:ext cx="102412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B0D4D6"/>
                </a:solidFill>
                <a:latin typeface="Segoe UI"/>
              </a:rPr>
              <a:t>Up, down, up. Every recent pair of readings agrees, so a garage comparing its own last two</a:t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B0D4D6"/>
                </a:solidFill>
                <a:latin typeface="Segoe UI"/>
              </a:rPr>
              <a:t>sees nothing wrong. Only something holding the whole sequence, across both workshops, finds it.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479145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4709160"/>
            <a:ext cx="10381183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Nothing is scored.</a:t>
            </a:r>
            <a:r>
              <a:rPr sz="1300">
                <a:solidFill>
                  <a:srgbClr val="535E60"/>
                </a:solidFill>
                <a:latin typeface="Segoe UI"/>
              </a:rPr>
              <a:t>  A number out of ten gets quoted in an advert and cannot carry its reasoning.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534009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7552" y="5257800"/>
            <a:ext cx="10381183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Certainty is stated.</a:t>
            </a:r>
            <a:r>
              <a:rPr sz="1300">
                <a:solidFill>
                  <a:srgbClr val="535E60"/>
                </a:solidFill>
                <a:latin typeface="Segoe UI"/>
              </a:rPr>
              <a:t>  A reading lower than an earlier one is arithmetic. Lower annual mileage before a sale is a question, because it also fits retirement.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588873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7552" y="5806440"/>
            <a:ext cx="10381183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Silence is not evidence.</a:t>
            </a:r>
            <a:r>
              <a:rPr sz="1300">
                <a:solidFill>
                  <a:srgbClr val="535E60"/>
                </a:solidFill>
                <a:latin typeface="Segoe UI"/>
              </a:rPr>
              <a:t>  Gaps are reported as thin history, never as suspicion.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BUSINESS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Priced per bay, not per person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286000"/>
            <a:ext cx="10424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535E60"/>
                </a:solidFill>
                <a:latin typeface="Segoe UI"/>
              </a:rPr>
              <a:t>A bay is what a workshop actually scales by. Charging per user makes a workshop ration logins, which keeps work off the system and makes the record worse.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063240"/>
            <a:ext cx="338328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329184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B8863B"/>
                </a:solidFill>
                <a:latin typeface="Segoe UI"/>
              </a:rPr>
              <a:t>Core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611880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123236"/>
                </a:solidFill>
                <a:latin typeface="Georgia"/>
              </a:rPr>
              <a:t>£39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42062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per bay, per month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457200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Jobs and diary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484632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Customers and vehicles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51206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The passport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539496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Invoicing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90288" y="3063240"/>
            <a:ext cx="3383280" cy="265176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64608" y="329184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D9B36C"/>
                </a:solidFill>
                <a:latin typeface="Segoe UI"/>
              </a:rPr>
              <a:t>Complete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64608" y="3611880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FFFFFF"/>
                </a:solidFill>
                <a:latin typeface="Georgia"/>
              </a:rPr>
              <a:t>£69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64608" y="42062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B0D4D6"/>
                </a:solidFill>
                <a:latin typeface="Segoe UI"/>
              </a:rPr>
              <a:t>per bay, per month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64608" y="457200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Everything in Core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64608" y="484632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Inventory and purchasing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64608" y="51206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Full ledger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64608" y="539496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Automation and CRM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357616" y="3063240"/>
            <a:ext cx="338328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31936" y="329184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B8863B"/>
                </a:solidFill>
                <a:latin typeface="Segoe UI"/>
              </a:rPr>
              <a:t>Group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31936" y="3611880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123236"/>
                </a:solidFill>
                <a:latin typeface="Georgia"/>
              </a:rPr>
              <a:t>£99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31936" y="42062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per bay, per month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31936" y="457200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Everything in Complete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31936" y="484632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Multiple sites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31936" y="51206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Consolidated reporting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31936" y="539496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Stock transfers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" y="594360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8A9496"/>
                </a:solidFill>
                <a:latin typeface="Segoe UI"/>
              </a:rPr>
              <a:t>Staff accounts are unlimited on every plan. 30-day trial, no card.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WHAT HAPPENS NEXT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Ordered by what a workshop loses each day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77440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478024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8760" y="2395728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Digital vehicle inspection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92040" y="2414016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Six tables exist and no interface. An inspection is what turns a booked oil change into approved brake work.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3035808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136392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3054096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The floor and the diary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92040" y="3072384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Day, month, technician and site views. Drag a job between bays, with the capacity check running on the drop.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3694176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3794760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08760" y="3712464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Warranty, fleet, customer thread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92040" y="3730752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A fifty-vehicle company is fifty unrelated records today. This opens a market rather than adding a feature.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4352544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4453128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10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08760" y="4370832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Reviews, loyalty and the inbox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92040" y="4389120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A strong rating invited to a public review, a poor one into a private conversation. Replies land against the job.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5010912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5111496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11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08760" y="5029200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Filling in the ERP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92040" y="5047488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Supplier payments, purchase price history, refunds, card payment, payroll export.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5669280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5769864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12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08760" y="5687568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Answers rather than pages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92040" y="5705856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Ask a question in words. AI inside the workflow, never deciding anything.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286000"/>
            <a:ext cx="9601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Georgia"/>
              </a:rPr>
              <a:t>A workshop system that pays for itself twice.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931920"/>
            <a:ext cx="96012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Once by running the business, and again by building a record that becomes</a:t>
            </a:r>
          </a:p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more valuable the longer it exists and that no competitor can start from.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39496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D9B36C"/>
                </a:solidFill>
                <a:latin typeface="Segoe UI"/>
              </a:rPr>
              <a:t>Amr Hefny   ·   hefnyamr@rocketmail.com   ·   +1 514 553 4360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
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B36C"/>
                </a:solidFill>
                <a:latin typeface="Segoe UI"/>
              </a:rPr>
              <a:t>CARNET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9144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Georgia"/>
              </a:rPr>
              <a:t>The history belongs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Georgia"/>
              </a:rPr>
              <a:t>to the car.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B0D4D6"/>
                </a:solidFill>
                <a:latin typeface="Segoe UI"/>
              </a:rPr>
              <a:t>Workshop management and ERP, built around a vehicle record that survives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B0D4D6"/>
                </a:solidFill>
                <a:latin typeface="Segoe UI"/>
              </a:rPr>
              <a:t>the sale, the workshop and the owner.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496"/>
                </a:solidFill>
                <a:latin typeface="Segoe UI"/>
              </a:rPr>
              <a:t>Amr Hefny   ·   hefnyamr@rocketmail.com   ·   +1 514 553 4360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863B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61A1B"/>
                </a:solidFill>
                <a:latin typeface="Georgia"/>
              </a:rPr>
              <a:t>A car outlives every record kept about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10545775" cy="12700"/>
          </a:xfrm>
          <a:prstGeom prst="rect">
            <a:avLst/>
          </a:prstGeom>
          <a:solidFill>
            <a:srgbClr val="B0D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59736"/>
            <a:ext cx="38100" cy="1397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77440"/>
            <a:ext cx="103811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61A1B"/>
                </a:solidFill>
                <a:latin typeface="Segoe UI"/>
              </a:rPr>
              <a:t>The workshop owns the history.</a:t>
            </a:r>
            <a:r>
              <a:rPr sz="1600">
                <a:solidFill>
                  <a:srgbClr val="535E60"/>
                </a:solidFill>
                <a:latin typeface="Segoe UI"/>
              </a:rPr>
              <a:t>  Change garage and it starts again from nothing.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82696"/>
            <a:ext cx="38100" cy="1397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200400"/>
            <a:ext cx="103811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61A1B"/>
                </a:solidFill>
                <a:latin typeface="Segoe UI"/>
              </a:rPr>
              <a:t>The owner sells the car.</a:t>
            </a:r>
            <a:r>
              <a:rPr sz="1600">
                <a:solidFill>
                  <a:srgbClr val="535E60"/>
                </a:solidFill>
                <a:latin typeface="Segoe UI"/>
              </a:rPr>
              <a:t>  Everything known about it stays behind, with a business that no longer has any reason to care.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5656"/>
            <a:ext cx="38100" cy="1397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023360"/>
            <a:ext cx="103811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61A1B"/>
                </a:solidFill>
                <a:latin typeface="Segoe UI"/>
              </a:rPr>
              <a:t>The buyer has no way to check.</a:t>
            </a:r>
            <a:r>
              <a:rPr sz="1600">
                <a:solidFill>
                  <a:srgbClr val="535E60"/>
                </a:solidFill>
                <a:latin typeface="Segoe UI"/>
              </a:rPr>
              <a:t>  Mileage, work done, parts fitted: all of it is a claim on a sheet of paper.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928616"/>
            <a:ext cx="38100" cy="1397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846320"/>
            <a:ext cx="103811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61A1B"/>
                </a:solidFill>
                <a:latin typeface="Segoe UI"/>
              </a:rPr>
              <a:t>Clocking survives because nobody holds the whole sequence.</a:t>
            </a:r>
            <a:r>
              <a:rPr sz="1600">
                <a:solidFill>
                  <a:srgbClr val="535E60"/>
                </a:solidFill>
                <a:latin typeface="Segoe UI"/>
              </a:rPr>
              <a:t>  Each garage sees only its own readings, and its own readings always agree with each other.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Carnet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863B"/>
                </a:solidFill>
                <a:latin typeface="Segoe U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Georgia"/>
              </a:rPr>
              <a:t>Key the record to the vehicle, not the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10545775" cy="12700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B0D4D6"/>
                </a:solidFill>
                <a:latin typeface="Segoe UI"/>
              </a:rPr>
              <a:t>Every event is written to a tamper-evident chain against the VIN. The workshop that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B0D4D6"/>
                </a:solidFill>
                <a:latin typeface="Segoe UI"/>
              </a:rPr>
              <a:t>wrote it cannot alter it afterwards, and neither can we. When the car is sold, the record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B0D4D6"/>
                </a:solidFill>
                <a:latin typeface="Segoe UI"/>
              </a:rPr>
              <a:t>goes with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63570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0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4528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Job completed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4973" y="3931920"/>
            <a:ext cx="163570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0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6413" y="4114800"/>
            <a:ext cx="14528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Event hashed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6986" y="3931920"/>
            <a:ext cx="163570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0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8426" y="4114800"/>
            <a:ext cx="14528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Chained to the last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8999" y="3931920"/>
            <a:ext cx="163570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0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0439" y="4114800"/>
            <a:ext cx="14528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Owner changes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1012" y="3931920"/>
            <a:ext cx="1635709" cy="658368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2452" y="4114800"/>
            <a:ext cx="14528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History transfers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33025" y="3931920"/>
            <a:ext cx="1635709" cy="658368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4465" y="4114800"/>
            <a:ext cx="14528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Buyer reads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D9B36C"/>
                </a:solidFill>
                <a:latin typeface="Segoe UI"/>
              </a:rPr>
              <a:t>This is the part a competitor cannot copy by adding a feature. It is a different answer to the question of who the record is for.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Carnet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863B"/>
                </a:solidFill>
                <a:latin typeface="Segoe UI"/>
              </a:rPr>
              <a:t>THE SHAPE OF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61A1B"/>
                </a:solidFill>
                <a:latin typeface="Georgia"/>
              </a:rPr>
              <a:t>Three connected experiences, one set of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10545775" cy="12700"/>
          </a:xfrm>
          <a:prstGeom prst="rect">
            <a:avLst/>
          </a:prstGeom>
          <a:solidFill>
            <a:srgbClr val="B0D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3383280" cy="50800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61A1B"/>
                </a:solidFill>
                <a:latin typeface="Georgia"/>
              </a:rPr>
              <a:t>The workshop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209544"/>
            <a:ext cx="63500" cy="63500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312724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Technician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520440"/>
            <a:ext cx="63500" cy="63500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43814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Job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831336"/>
            <a:ext cx="63500" cy="63500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7490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Inspection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142232"/>
            <a:ext cx="63500" cy="63500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405993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Parts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453128"/>
            <a:ext cx="63500" cy="63500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437083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Repair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2803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A9496"/>
                </a:solidFill>
                <a:latin typeface="Segoe UI"/>
              </a:rPr>
              <a:t>One tablet surface for the floor, with the clock running against the job.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33172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90288" y="2331720"/>
            <a:ext cx="3383280" cy="508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8" y="26060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61A1B"/>
                </a:solidFill>
                <a:latin typeface="Georgia"/>
              </a:rPr>
              <a:t>The business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4608" y="3209544"/>
            <a:ext cx="63500" cy="635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6" y="312724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Jobs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4608" y="3520440"/>
            <a:ext cx="63500" cy="635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65776" y="343814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Inventory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64608" y="3831336"/>
            <a:ext cx="63500" cy="635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65776" y="37490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Purchasing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64608" y="4142232"/>
            <a:ext cx="63500" cy="635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5776" y="405993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Accounting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4608" y="4453128"/>
            <a:ext cx="63500" cy="635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65776" y="437083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Profitability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482803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A9496"/>
                </a:solidFill>
                <a:latin typeface="Segoe UI"/>
              </a:rPr>
              <a:t>A double-entry ledger that posts from the work itself, not a monthly export.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57616" y="233172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57616" y="2331720"/>
            <a:ext cx="3383280" cy="50800"/>
          </a:xfrm>
          <a:prstGeom prst="rect">
            <a:avLst/>
          </a:prstGeom>
          <a:solidFill>
            <a:srgbClr val="2F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31936" y="26060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61A1B"/>
                </a:solidFill>
                <a:latin typeface="Georgia"/>
              </a:rPr>
              <a:t>The customer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31936" y="3209544"/>
            <a:ext cx="63500" cy="63500"/>
          </a:xfrm>
          <a:prstGeom prst="rect">
            <a:avLst/>
          </a:prstGeom>
          <a:solidFill>
            <a:srgbClr val="2F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33104" y="312724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Booking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31936" y="3520440"/>
            <a:ext cx="63500" cy="63500"/>
          </a:xfrm>
          <a:prstGeom prst="rect">
            <a:avLst/>
          </a:prstGeom>
          <a:solidFill>
            <a:srgbClr val="2F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33104" y="343814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Inspection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31936" y="3831336"/>
            <a:ext cx="63500" cy="63500"/>
          </a:xfrm>
          <a:prstGeom prst="rect">
            <a:avLst/>
          </a:prstGeom>
          <a:solidFill>
            <a:srgbClr val="2F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33104" y="37490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Approval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31936" y="4142232"/>
            <a:ext cx="63500" cy="63500"/>
          </a:xfrm>
          <a:prstGeom prst="rect">
            <a:avLst/>
          </a:prstGeom>
          <a:solidFill>
            <a:srgbClr val="2F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33104" y="405993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Tracking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31936" y="4453128"/>
            <a:ext cx="63500" cy="63500"/>
          </a:xfrm>
          <a:prstGeom prst="rect">
            <a:avLst/>
          </a:prstGeom>
          <a:solidFill>
            <a:srgbClr val="2F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33104" y="437083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Payment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31936" y="482803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A9496"/>
                </a:solidFill>
                <a:latin typeface="Segoe UI"/>
              </a:rPr>
              <a:t>No account needed to answer a quote. Most people meet Carnet on a link.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Carnet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863B"/>
                </a:solidFill>
                <a:latin typeface="Segoe UI"/>
              </a:rPr>
              <a:t>WHERE IT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61A1B"/>
                </a:solidFill>
                <a:latin typeface="Georgia"/>
              </a:rPr>
              <a:t>Built, and checked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10545775" cy="12700"/>
          </a:xfrm>
          <a:prstGeom prst="rect">
            <a:avLst/>
          </a:prstGeom>
          <a:solidFill>
            <a:srgbClr val="B0D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1926275" cy="1371600"/>
          </a:xfrm>
          <a:prstGeom prst="rect">
            <a:avLst/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926275" cy="381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69464"/>
            <a:ext cx="14690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23236"/>
                </a:solidFill>
                <a:latin typeface="Georgia"/>
              </a:rPr>
              <a:t>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18104"/>
            <a:ext cx="1469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61A1B"/>
                </a:solidFill>
                <a:latin typeface="Segoe UI"/>
              </a:rPr>
              <a:t>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55848"/>
            <a:ext cx="1469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Every one rendered in 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7835" y="2331720"/>
            <a:ext cx="1926275" cy="1371600"/>
          </a:xfrm>
          <a:prstGeom prst="rect">
            <a:avLst/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7835" y="2331720"/>
            <a:ext cx="1926275" cy="381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6435" y="2569464"/>
            <a:ext cx="14690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23236"/>
                </a:solidFill>
                <a:latin typeface="Georgia"/>
              </a:rPr>
              <a:t>154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6435" y="3118104"/>
            <a:ext cx="1469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61A1B"/>
                </a:solidFill>
                <a:latin typeface="Segoe UI"/>
              </a:rPr>
              <a:t>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6435" y="3355848"/>
            <a:ext cx="1469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One schema, one ledger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2710" y="2331720"/>
            <a:ext cx="1926275" cy="1371600"/>
          </a:xfrm>
          <a:prstGeom prst="rect">
            <a:avLst/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2710" y="2331720"/>
            <a:ext cx="1926275" cy="381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1310" y="2569464"/>
            <a:ext cx="14690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23236"/>
                </a:solidFill>
                <a:latin typeface="Georgia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1310" y="3118104"/>
            <a:ext cx="1469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61A1B"/>
                </a:solidFill>
                <a:latin typeface="Segoe UI"/>
              </a:rPr>
              <a:t>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1310" y="3355848"/>
            <a:ext cx="1469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Domain logic, no mocks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7585" y="2331720"/>
            <a:ext cx="1926275" cy="1371600"/>
          </a:xfrm>
          <a:prstGeom prst="rect">
            <a:avLst/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7585" y="2331720"/>
            <a:ext cx="1926275" cy="381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185" y="2569464"/>
            <a:ext cx="14690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23236"/>
                </a:solidFill>
                <a:latin typeface="Georgia"/>
              </a:rPr>
              <a:t>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185" y="3118104"/>
            <a:ext cx="1469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61A1B"/>
                </a:solidFill>
                <a:latin typeface="Segoe UI"/>
              </a:rPr>
              <a:t>Database probes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185" y="3355848"/>
            <a:ext cx="1469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Invariants proved, not assumed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42460" y="2331720"/>
            <a:ext cx="1926275" cy="1371600"/>
          </a:xfrm>
          <a:prstGeom prst="rect">
            <a:avLst/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42460" y="2331720"/>
            <a:ext cx="1926275" cy="381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1060" y="2569464"/>
            <a:ext cx="14690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23236"/>
                </a:solidFill>
                <a:latin typeface="Georgia"/>
              </a:rPr>
              <a:t>751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1060" y="3118104"/>
            <a:ext cx="1469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61A1B"/>
                </a:solidFill>
                <a:latin typeface="Segoe UI"/>
              </a:rPr>
              <a:t>Requirements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1060" y="3355848"/>
            <a:ext cx="1469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Traced to code and a 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197096"/>
            <a:ext cx="38100" cy="1397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114800"/>
            <a:ext cx="103811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61A1B"/>
                </a:solidFill>
                <a:latin typeface="Segoe UI"/>
              </a:rPr>
              <a:t>Every phase ships green.</a:t>
            </a:r>
            <a:r>
              <a:rPr sz="1400">
                <a:solidFill>
                  <a:srgbClr val="535E60"/>
                </a:solidFill>
                <a:latin typeface="Segoe UI"/>
              </a:rPr>
              <a:t>  Format, lint, types, tests, database invariants, then a production build with every route rendered for every role.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910328"/>
            <a:ext cx="38100" cy="1397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4828032"/>
            <a:ext cx="103811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61A1B"/>
                </a:solidFill>
                <a:latin typeface="Segoe UI"/>
              </a:rPr>
              <a:t>The rules live in the database.</a:t>
            </a:r>
            <a:r>
              <a:rPr sz="1400">
                <a:solidFill>
                  <a:srgbClr val="535E60"/>
                </a:solidFill>
                <a:latin typeface="Segoe UI"/>
              </a:rPr>
              <a:t>  A ledger entry that does not balance, a rule acting twice inside its cooldown, an edited consent record: all refused by Postgres, not only by code.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623560"/>
            <a:ext cx="38100" cy="1397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5541264"/>
            <a:ext cx="103811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61A1B"/>
                </a:solidFill>
                <a:latin typeface="Segoe UI"/>
              </a:rPr>
              <a:t>Empty states and accessibility are checked by script.</a:t>
            </a:r>
            <a:r>
              <a:rPr sz="1400">
                <a:solidFill>
                  <a:srgbClr val="535E60"/>
                </a:solidFill>
                <a:latin typeface="Segoe UI"/>
              </a:rPr>
              <a:t>  A workshop on its first morning sees a product that tells it what to do next.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Carnet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863B"/>
                </a:solidFill>
                <a:latin typeface="Segoe UI"/>
              </a:rPr>
              <a:t>COVERAGE,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61A1B"/>
                </a:solidFill>
                <a:latin typeface="Georgia"/>
              </a:rPr>
              <a:t>What is built and what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10545775" cy="12700"/>
          </a:xfrm>
          <a:prstGeom prst="rect">
            <a:avLst/>
          </a:prstGeom>
          <a:solidFill>
            <a:srgbClr val="B0D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10489530" cy="548640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15184"/>
            <a:ext cx="1021521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Built 373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12490" y="2468880"/>
            <a:ext cx="28122" cy="54864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40612" y="2468880"/>
            <a:ext cx="0" cy="548640"/>
          </a:xfrm>
          <a:prstGeom prst="rect">
            <a:avLst/>
          </a:prstGeom>
          <a:solidFill>
            <a:srgbClr val="C9C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35E60"/>
                </a:solidFill>
                <a:latin typeface="Segoe UI"/>
              </a:rPr>
              <a:t>Counted line by line from the feature map, which is written against the code. A capability counts as built only when somebody can open a page and do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059935"/>
            <a:ext cx="38100" cy="1397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77639"/>
            <a:ext cx="103811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61A1B"/>
                </a:solidFill>
                <a:latin typeface="Segoe UI"/>
              </a:rPr>
              <a:t>Complete.</a:t>
            </a:r>
            <a:r>
              <a:rPr sz="1400">
                <a:solidFill>
                  <a:srgbClr val="535E60"/>
                </a:solidFill>
                <a:latin typeface="Segoe UI"/>
              </a:rPr>
              <a:t>  Jobs, diary, customers, vehicles, the passport, estimates, invoices, payments, inventory, purchasing, the ledger, people, multi-site, counter sales, automation, CRM, the customer portal.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837175"/>
            <a:ext cx="38100" cy="1397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754879"/>
            <a:ext cx="103811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61A1B"/>
                </a:solidFill>
                <a:latin typeface="Segoe UI"/>
              </a:rPr>
              <a:t>Partial, and named.</a:t>
            </a:r>
            <a:r>
              <a:rPr sz="1400">
                <a:solidFill>
                  <a:srgbClr val="535E60"/>
                </a:solidFill>
                <a:latin typeface="Segoe UI"/>
              </a:rPr>
              <a:t>  Inspections have six tables and no interface. The calendar has one view of six. Communication goes out but nothing comes 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614415"/>
            <a:ext cx="38100" cy="1397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5532119"/>
            <a:ext cx="103811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61A1B"/>
                </a:solidFill>
                <a:latin typeface="Segoe UI"/>
              </a:rPr>
              <a:t>Absent, and scheduled.</a:t>
            </a:r>
            <a:r>
              <a:rPr sz="1400">
                <a:solidFill>
                  <a:srgbClr val="535E60"/>
                </a:solidFill>
                <a:latin typeface="Segoe UI"/>
              </a:rPr>
              <a:t>  Warranty, fleet, reviews, loyalty, the bay board, the command centre. Phases 7 to 12.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Carnet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863B"/>
                </a:solidFill>
                <a:latin typeface="Segoe UI"/>
              </a:rPr>
              <a:t>THE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Georgia"/>
              </a:rPr>
              <a:t>Caught by the record, not by a 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10545775" cy="12700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10545775" cy="1965960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50800" cy="1965960"/>
          </a:xfrm>
          <a:prstGeom prst="rect">
            <a:avLst/>
          </a:prstGeom>
          <a:solidFill>
            <a:srgbClr val="A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B36C"/>
                </a:solidFill>
                <a:latin typeface="Segoe UI"/>
              </a:rPr>
              <a:t>The demonstration vehicle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67,410 miles, then 62,000, then 74,800.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2044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B0D4D6"/>
                </a:solidFill>
                <a:latin typeface="Segoe UI"/>
              </a:rPr>
              <a:t>Up, down, up. Every recent pair of readings agrees, so a garage comparing its own last two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B0D4D6"/>
                </a:solidFill>
                <a:latin typeface="Segoe UI"/>
              </a:rPr>
              <a:t>sees nothing wrong. Only something holding the whole sequence, across both workshops, finds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791456"/>
            <a:ext cx="38100" cy="1397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709160"/>
            <a:ext cx="1038118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Nothing is scored.</a:t>
            </a:r>
            <a:r>
              <a:rPr sz="1300">
                <a:solidFill>
                  <a:srgbClr val="535E60"/>
                </a:solidFill>
                <a:latin typeface="Segoe UI"/>
              </a:rPr>
              <a:t>  A number out of ten gets quoted in an advert and cannot carry its reasoning.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340096"/>
            <a:ext cx="38100" cy="1397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257800"/>
            <a:ext cx="1038118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Certainty is stated.</a:t>
            </a:r>
            <a:r>
              <a:rPr sz="1300">
                <a:solidFill>
                  <a:srgbClr val="535E60"/>
                </a:solidFill>
                <a:latin typeface="Segoe UI"/>
              </a:rPr>
              <a:t>  A reading lower than an earlier one is arithmetic. Lower annual mileage before a sale is a question, because it also fits retirement.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88736"/>
            <a:ext cx="38100" cy="1397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5806440"/>
            <a:ext cx="1038118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Silence is not evidence.</a:t>
            </a:r>
            <a:r>
              <a:rPr sz="1300">
                <a:solidFill>
                  <a:srgbClr val="535E60"/>
                </a:solidFill>
                <a:latin typeface="Segoe UI"/>
              </a:rPr>
              <a:t>  Gaps are reported as thin history, never as suspicion.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Carnet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863B"/>
                </a:solidFill>
                <a:latin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61A1B"/>
                </a:solidFill>
                <a:latin typeface="Georgia"/>
              </a:rPr>
              <a:t>Priced per bay, not per person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10545775" cy="12700"/>
          </a:xfrm>
          <a:prstGeom prst="rect">
            <a:avLst/>
          </a:prstGeom>
          <a:solidFill>
            <a:srgbClr val="B0D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35E60"/>
                </a:solidFill>
                <a:latin typeface="Segoe UI"/>
              </a:rPr>
              <a:t>A bay is what a workshop actually scales by. Charging per user makes a workshop ration logins, which keeps work off the system and makes the record worse.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3383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863B"/>
                </a:solidFill>
                <a:latin typeface="Segoe UI"/>
              </a:rPr>
              <a:t>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23236"/>
                </a:solidFill>
                <a:latin typeface="Georgia"/>
              </a:rPr>
              <a:t>£39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496"/>
                </a:solidFill>
                <a:latin typeface="Segoe UI"/>
              </a:rPr>
              <a:t>per bay, per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Jobs and diary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Customers and vehicles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The passport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949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Invoicing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0288" y="3063240"/>
            <a:ext cx="3383280" cy="2651760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329184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9B36C"/>
                </a:solidFill>
                <a:latin typeface="Segoe UI"/>
              </a:rPr>
              <a:t>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361188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£69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42062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0D4D6"/>
                </a:solidFill>
                <a:latin typeface="Segoe UI"/>
              </a:rPr>
              <a:t>per bay, per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45720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0D4D6"/>
                </a:solidFill>
                <a:latin typeface="Segoe UI"/>
              </a:rPr>
              <a:t>Everything in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48463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0D4D6"/>
                </a:solidFill>
                <a:latin typeface="Segoe UI"/>
              </a:rPr>
              <a:t>Inventory and purchasing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51206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0D4D6"/>
                </a:solidFill>
                <a:latin typeface="Segoe UI"/>
              </a:rPr>
              <a:t>Full ledger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53949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0D4D6"/>
                </a:solidFill>
                <a:latin typeface="Segoe UI"/>
              </a:rPr>
              <a:t>Automation and CRM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57616" y="3063240"/>
            <a:ext cx="3383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1936" y="329184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863B"/>
                </a:solidFill>
                <a:latin typeface="Segoe UI"/>
              </a:rPr>
              <a:t>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1936" y="361188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23236"/>
                </a:solidFill>
                <a:latin typeface="Georgia"/>
              </a:rPr>
              <a:t>£99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1936" y="42062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496"/>
                </a:solidFill>
                <a:latin typeface="Segoe UI"/>
              </a:rPr>
              <a:t>per bay, per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1936" y="45720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Everything in 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1936" y="48463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Multiple sites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1936" y="51206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Consolidated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1936" y="53949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Stock transfers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943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496"/>
                </a:solidFill>
                <a:latin typeface="Segoe UI"/>
              </a:rPr>
              <a:t>Staff accounts are unlimited on every plan. 14-day trial; the card goes on first and is charged only when the trial ends.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Carnet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863B"/>
                </a:solidFill>
                <a:latin typeface="Segoe UI"/>
              </a:rPr>
              <a:t>WHAT HAPPENS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61A1B"/>
                </a:solidFill>
                <a:latin typeface="Georgia"/>
              </a:rPr>
              <a:t>Ordered by what a workshop loses each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10545775" cy="12700"/>
          </a:xfrm>
          <a:prstGeom prst="rect">
            <a:avLst/>
          </a:prstGeom>
          <a:solidFill>
            <a:srgbClr val="B0D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475488" cy="475488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78024"/>
            <a:ext cx="475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Georgia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9572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A1B"/>
                </a:solidFill>
                <a:latin typeface="Segoe UI"/>
              </a:rPr>
              <a:t>Tax, configurable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41401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Built: several taxes on a rate, prices with tax in, exempt customers, a rate per site, and a report per tax from what each document declared.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35808"/>
            <a:ext cx="475488" cy="475488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36392"/>
            <a:ext cx="475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Georgia"/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05409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A1B"/>
                </a:solidFill>
                <a:latin typeface="Segoe UI"/>
              </a:rPr>
              <a:t>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072384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Built: invoice, quote, inspection report, work order, key tag, labels and receipt, each printed or as a PDF in the reader's language, with QR codes.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94176"/>
            <a:ext cx="475488" cy="475488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475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Georgia"/>
              </a:rPr>
              <a:t>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12464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A1B"/>
                </a:solidFill>
                <a:latin typeface="Segoe UI"/>
              </a:rPr>
              <a:t>Providers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73075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VIN decoding and a fitment feed behind seams; payroll exported; reviews posted to Google.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52544"/>
            <a:ext cx="475488" cy="475488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53128"/>
            <a:ext cx="475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Georgia"/>
              </a:rPr>
              <a:t>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370832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A1B"/>
                </a:solidFill>
                <a:latin typeface="Segoe UI"/>
              </a:rPr>
              <a:t>Ownership, warranty and sites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38912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A car transferred by invitation with its history; warranty cost and profit; prices and tax per site.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010912"/>
            <a:ext cx="475488" cy="475488"/>
          </a:xfrm>
          <a:prstGeom prst="rect">
            <a:avLst/>
          </a:prstGeom>
          <a:solidFill>
            <a:srgbClr val="1A4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11496"/>
            <a:ext cx="475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Georgia"/>
              </a:rPr>
              <a:t>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2920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A1B"/>
                </a:solidFill>
                <a:latin typeface="Segoe UI"/>
              </a:rPr>
              <a:t>The first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04748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35E60"/>
                </a:solidFill>
                <a:latin typeface="Segoe UI"/>
              </a:rPr>
              <a:t>An onboarding checklist, demonstration data, and help inside the product.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Carnet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49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8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Georgia"/>
              </a:rPr>
              <a:t>A workshop system that pays for itself twice.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B0D4D6"/>
                </a:solidFill>
                <a:latin typeface="Segoe UI"/>
              </a:rPr>
              <a:t>Once by running the business, and again by building a record that becomes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B0D4D6"/>
                </a:solidFill>
                <a:latin typeface="Segoe UI"/>
              </a:rPr>
              <a:t>more valuable the longer it exists and that no competitor can start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B36C"/>
                </a:solidFill>
                <a:latin typeface="Segoe UI"/>
              </a:rPr>
              <a:t>Amr Hefny   ·   hefnyamr@rocketmail.com   ·   +1 514 553 4360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
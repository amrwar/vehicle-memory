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D9B36C"/>
                </a:solidFill>
                <a:latin typeface="Segoe UI"/>
              </a:rPr>
              <a:t>CARNET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23160"/>
            <a:ext cx="91440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The history belongs</a:t>
            </a:r>
          </a:p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to the car.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4340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Workshop management and ERP, built around a vehicle record that survives</a:t>
            </a:r>
          </a:p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the sale, the workshop and the owner.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521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A car outlives every record kept about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59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37744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workshop owns the history.</a:t>
            </a:r>
            <a:r>
              <a:rPr sz="1600">
                <a:solidFill>
                  <a:srgbClr val="535E60"/>
                </a:solidFill>
                <a:latin typeface="Segoe UI"/>
              </a:rPr>
              <a:t>  Change garage and it starts again from nothing.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2826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320040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owner sells the car.</a:t>
            </a:r>
            <a:r>
              <a:rPr sz="1600">
                <a:solidFill>
                  <a:srgbClr val="535E60"/>
                </a:solidFill>
                <a:latin typeface="Segoe UI"/>
              </a:rPr>
              <a:t>  Everything known about it stays behind, with a business that no longer has any reason to care.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1056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402336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buyer has no way to check.</a:t>
            </a:r>
            <a:r>
              <a:rPr sz="1600">
                <a:solidFill>
                  <a:srgbClr val="535E60"/>
                </a:solidFill>
                <a:latin typeface="Segoe UI"/>
              </a:rPr>
              <a:t>  Mileage, work done, parts fitted: all of it is a claim on a sheet of paper.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92861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484632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Clocking survives because nobody holds the whole sequence.</a:t>
            </a:r>
            <a:r>
              <a:rPr sz="1600">
                <a:solidFill>
                  <a:srgbClr val="535E60"/>
                </a:solidFill>
                <a:latin typeface="Segoe UI"/>
              </a:rPr>
              <a:t>  Each garage sees only its own readings, and its own readings always agree with each other.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Key the record to the vehicle, not the workshop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Every event is written to a tamper-evident chain against the VIN. The workshop that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wrote it cannot alter it afterwards, and neither can we. When the car is sold, the record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goes with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 completed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2604973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96413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Event hashed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6986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78426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Chained to the last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8999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0439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Owner changes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1012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2452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History transfers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733025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24465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Buyer reads 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0292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D9B36C"/>
                </a:solidFill>
                <a:latin typeface="Segoe UI"/>
              </a:rPr>
              <a:t>This is the part a competitor cannot copy by adding a feature. It is a different answer to the question of who the record is for.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SHAPE OF THE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Three connected experiences, one set of records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3383280" cy="508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workshop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3209544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98448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Technician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3520440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98448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7280" y="3831336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98448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97280" y="4142232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98448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Parts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97280" y="4453128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98448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Repair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One tablet surface for the floor, with the clock running against the job.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90288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90288" y="2331720"/>
            <a:ext cx="3383280" cy="508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4608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business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64608" y="3209544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65776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64608" y="3520440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65776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Inventory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64608" y="3831336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65776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Purchasing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864608" y="4142232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65776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Accounting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864608" y="4453128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65776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Profitability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64608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A double-entry ledger that posts from the work itself, not a monthly export.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357616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357616" y="2331720"/>
            <a:ext cx="3383280" cy="508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31936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customer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631936" y="3209544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833104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Booking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631936" y="3520440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833104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631936" y="3831336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833104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Approval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631936" y="4142232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833104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Tracking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631936" y="4453128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833104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Payment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31936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No account needed to answer a quote. Most people meet Carnet on a link.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WHERE IT STANDS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Built, and checked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Pages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Every one rendered in CI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7783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97783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643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127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643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Tables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643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One schema, one ledger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3271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3271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6131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6131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Tests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6131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Domain logic, no mocks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8758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8758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1618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42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1618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Database probes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1618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Invariants proved, not assumed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424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4424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710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491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710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Requirements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710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Traced to code and a test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4197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7552" y="4114800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Every phase ships green.</a:t>
            </a:r>
            <a:r>
              <a:rPr sz="1400">
                <a:solidFill>
                  <a:srgbClr val="535E60"/>
                </a:solidFill>
                <a:latin typeface="Segoe UI"/>
              </a:rPr>
              <a:t>  Format, lint, types, tests, database invariants, then a production build with every route rendered for every role.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" y="4910328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7552" y="4828032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The rules live in the database.</a:t>
            </a:r>
            <a:r>
              <a:rPr sz="1400">
                <a:solidFill>
                  <a:srgbClr val="535E60"/>
                </a:solidFill>
                <a:latin typeface="Segoe UI"/>
              </a:rPr>
              <a:t>  A ledger entry that does not balance, a rule acting twice inside its cooldown, an edited consent record: all refused by Postgres, not only by code.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2960" y="5623560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87552" y="5541264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Empty states and accessibility are checked by script.</a:t>
            </a:r>
            <a:r>
              <a:rPr sz="1400">
                <a:solidFill>
                  <a:srgbClr val="535E60"/>
                </a:solidFill>
                <a:latin typeface="Segoe UI"/>
              </a:rPr>
              <a:t>  A workshop on its first morning sees a product that tells it what to do next.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COVERAGE, HONESTLY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What is built and what is not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68880"/>
            <a:ext cx="9135912" cy="54864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615184"/>
            <a:ext cx="886159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Built 162</a:t>
            </a:r>
          </a:p>
        </p:txBody>
      </p:sp>
      <p:sp>
        <p:nvSpPr>
          <p:cNvPr id="8" name="Rectangle 7"/>
          <p:cNvSpPr/>
          <p:nvPr/>
        </p:nvSpPr>
        <p:spPr>
          <a:xfrm>
            <a:off x="9958872" y="2468880"/>
            <a:ext cx="169183" cy="54864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128055" y="2468880"/>
            <a:ext cx="1184284" cy="548640"/>
          </a:xfrm>
          <a:prstGeom prst="rect">
            <a:avLst/>
          </a:prstGeom>
          <a:solidFill>
            <a:srgbClr val="C9C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10935" y="2615184"/>
            <a:ext cx="9099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535E60"/>
                </a:solidFill>
                <a:latin typeface="Segoe UI"/>
              </a:rPr>
              <a:t>Missing 21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24612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Counted line by line from the feature map, which is written against the code. A capability counts as built only when somebody can open a page and do it.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05993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397763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Complete.</a:t>
            </a:r>
            <a:r>
              <a:rPr sz="1400">
                <a:solidFill>
                  <a:srgbClr val="535E60"/>
                </a:solidFill>
                <a:latin typeface="Segoe UI"/>
              </a:rPr>
              <a:t>  Jobs, diary, customers, vehicles, the passport, estimates, invoices, payments, inventory, purchasing, the ledger, people, multi-site, counter sales, automation, CRM, the customer portal.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483717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7552" y="475487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Partial, and named.</a:t>
            </a:r>
            <a:r>
              <a:rPr sz="1400">
                <a:solidFill>
                  <a:srgbClr val="535E60"/>
                </a:solidFill>
                <a:latin typeface="Segoe UI"/>
              </a:rPr>
              <a:t>  Inspections have six tables and no interface. The calendar has one view of six. Communication goes out but nothing comes back.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561441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7552" y="553211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Absent, and scheduled.</a:t>
            </a:r>
            <a:r>
              <a:rPr sz="1400">
                <a:solidFill>
                  <a:srgbClr val="535E60"/>
                </a:solidFill>
                <a:latin typeface="Segoe UI"/>
              </a:rPr>
              <a:t>  Warranty, fleet, reviews, loyalty, the bay board, the command centre. Phases 7 to 12.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DIFFERENCE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Caught by the record, not by a feature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10545775" cy="19659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77440"/>
            <a:ext cx="50800" cy="1965960"/>
          </a:xfrm>
          <a:prstGeom prst="rect">
            <a:avLst/>
          </a:prstGeom>
          <a:solidFill>
            <a:srgbClr val="A8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60604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D9B36C"/>
                </a:solidFill>
                <a:latin typeface="Segoe UI"/>
              </a:rPr>
              <a:t>The demonstration vehicle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9260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Georgia"/>
              </a:rPr>
              <a:t>67,410 miles, then 62,000, then 74,800.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520440"/>
            <a:ext cx="10241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Up, down, up. Every recent pair of readings agrees, so a garage comparing its own last two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sees nothing wrong. Only something holding the whole sequence, across both workshops, finds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7914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470916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Nothing is scored.</a:t>
            </a:r>
            <a:r>
              <a:rPr sz="1300">
                <a:solidFill>
                  <a:srgbClr val="535E60"/>
                </a:solidFill>
                <a:latin typeface="Segoe UI"/>
              </a:rPr>
              <a:t>  A number out of ten gets quoted in an advert and cannot carry its reasoning.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5340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525780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Certainty is stated.</a:t>
            </a:r>
            <a:r>
              <a:rPr sz="1300">
                <a:solidFill>
                  <a:srgbClr val="535E60"/>
                </a:solidFill>
                <a:latin typeface="Segoe UI"/>
              </a:rPr>
              <a:t>  A reading lower than an earlier one is arithmetic. Lower annual mileage before a sale is a question, because it also fits retirement.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888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580644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Silence is not evidence.</a:t>
            </a:r>
            <a:r>
              <a:rPr sz="1300">
                <a:solidFill>
                  <a:srgbClr val="535E60"/>
                </a:solidFill>
                <a:latin typeface="Segoe UI"/>
              </a:rPr>
              <a:t>  Gaps are reported as thin history, never as suspicion.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BUSINESS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Priced per bay, not per person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35E60"/>
                </a:solidFill>
                <a:latin typeface="Segoe UI"/>
              </a:rPr>
              <a:t>A bay is what a workshop actually scales by. Charging per user makes a workshop ration logins, which keeps work off the system and makes the record worse.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Jobs and diary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Customers and vehicles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The passport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Invoicing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90288" y="3063240"/>
            <a:ext cx="3383280" cy="26517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64608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D9B36C"/>
                </a:solidFill>
                <a:latin typeface="Segoe UI"/>
              </a:rPr>
              <a:t>Complete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64608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FFFFF"/>
                </a:solidFill>
                <a:latin typeface="Georgia"/>
              </a:rPr>
              <a:t>£69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64608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B0D4D6"/>
                </a:solidFill>
                <a:latin typeface="Segoe UI"/>
              </a:rPr>
              <a:t>per bay, per month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64608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Everything in Core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64608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Inventory and purchasing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64608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Full ledger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64608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Automation and CRM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57616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31936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Group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31936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£99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31936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31936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Everything in Complete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31936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Multiple sites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31936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Consolidated reporting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31936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Stock transfers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59436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Staff accounts are unlimited on every plan. 30-day trial, no card.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WHAT HAPPENS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Ordered by what a workshop loses each 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478024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2395728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Card payment through a provider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2414016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 provider seam with a stub that behaves like the real one, a "Pay now" in the portal, failed payments as a state, and reconciliation that names the difference.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035808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136392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33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054096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Data in, data out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3072384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CSV import with mapping, validation and a report of what did not go in; export of everything a workshop owns.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694176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794760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34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3712464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The workflow, as one thing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3730752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An approved estimate becomes a job in one press; extra work is quoted and approved without leaving the job.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4352544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453128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35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370832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Arrival and departure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2040" y="4389120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Check-in and check-out, signatures on the record, key tags.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5010912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5111496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36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5029200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Conversations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5047488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One thread per customer across email, SMS and WhatsApp, on the job it is about.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5669280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5769864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37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08760" y="5687568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Packages and templates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92040" y="5705856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Service packages priced as one thing; job templates that put the right lines on from the start.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9601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Georgia"/>
              </a:rPr>
              <a:t>A workshop system that pays for itself twice.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31920"/>
            <a:ext cx="9601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Once by running the business, and again by building a record that becomes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more valuable the longer it exists and that no competitor can start from.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3949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D9B36C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